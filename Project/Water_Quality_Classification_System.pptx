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pic>
        <p:nvPicPr>
          <p:cNvPr id="4" name="Image 0" descr="/home/claude/wq_ppt/icon_tint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961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ENVIRONMENTAL AI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78308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Quality Classification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13232" y="3611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Random Forest and Support Vector Machine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13232" y="42519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46177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Ketana Sindhu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Chandrika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46177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
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Jyothsna Datti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Assessing water safety is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manual, and hard to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sx="100000" sy="100000" kx="0" ky="0" algn="bl" rotWithShape="0" blurRad="101600" dist="38100" dir="5400000">
              <a:srgbClr val="5A6E7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60604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q_ppt/icon_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7706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015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Lab-dependent testing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40233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water-quality testing needs lab equipment, trained personnel, and considerable time.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233172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sx="100000" sy="100000" kx="0" ky="0" algn="bl" rotWithShape="0" blurRad="101600" dist="38100" dir="5400000">
              <a:srgbClr val="5A6E7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260604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wq_ppt/icon_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7706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4015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parameters at once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40233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depends on multiple physical and chemical parameters that interact with each other.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33172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sx="100000" sy="100000" kx="0" ky="0" algn="bl" rotWithShape="0" blurRad="101600" dist="38100" dir="5400000">
              <a:srgbClr val="5A6E7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19088" y="260604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wq_ppt/icon_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77063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4015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analysis is slow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55080" y="40233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each parameter by hand is difficult and time-consuming, especially at scale.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15400" y="233172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sx="100000" sy="100000" kx="0" ky="0" algn="bl" rotWithShape="0" blurRad="101600" dist="38100" dir="5400000">
              <a:srgbClr val="5A6E77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08008" y="260604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wq_ppt/icon_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77063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4015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gap worth closing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0" y="402336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learn patterns in existing water-quality data to predict potability automatically.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777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Machine Learning to a real, everyday environmental problem — while building practical ML workflow experience.</a:t>
            </a:r>
            <a:endParaRPr lang="en-US" sz="1300" dirty="0"/>
          </a:p>
        </p:txBody>
      </p:sp>
      <p:pic>
        <p:nvPicPr>
          <p:cNvPr id="7" name="Image 0" descr="/home/claude/wq_ppt/icon_leaf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212080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740664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740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66360" y="685800"/>
            <a:ext cx="6492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faster preliminary assessment of water potability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663440" y="1453896"/>
            <a:ext cx="6949440" cy="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53619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66360" y="1481328"/>
            <a:ext cx="6492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dependence on time-consuming manual analysis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663440" y="2249424"/>
            <a:ext cx="6949440" cy="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233172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66360" y="2276856"/>
            <a:ext cx="6492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multiple water-quality parameters simultaneously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663440" y="3044952"/>
            <a:ext cx="6949440" cy="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312724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66360" y="3072384"/>
            <a:ext cx="6492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Machine Learning to a real-world environmental problem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663440" y="3840480"/>
            <a:ext cx="6949440" cy="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3922776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2"/>
          <p:cNvSpPr/>
          <p:nvPr/>
        </p:nvSpPr>
        <p:spPr>
          <a:xfrm>
            <a:off x="466344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166360" y="3867912"/>
            <a:ext cx="6492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different classification algorithms to find an effective model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4663440" y="4636008"/>
            <a:ext cx="6949440" cy="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47183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4663440" y="4718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166360" y="4663440"/>
            <a:ext cx="6492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prediction system for preliminary assessment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4663440" y="5431536"/>
            <a:ext cx="6949440" cy="0"/>
          </a:xfrm>
          <a:prstGeom prst="line">
            <a:avLst/>
          </a:prstGeom>
          <a:noFill/>
          <a:ln w="12700">
            <a:solidFill>
              <a:srgbClr val="E7EC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63440" y="551383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0"/>
          <p:cNvSpPr/>
          <p:nvPr/>
        </p:nvSpPr>
        <p:spPr>
          <a:xfrm>
            <a:off x="4663440" y="5513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166360" y="5458968"/>
            <a:ext cx="6492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understanding of the complete ML workflow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System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 research papers studied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span classical ML to deep learning and explainability — reflecting a broad research landscape, not one shared dataset.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3093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</p:spPr>
      </p:sp>
      <p:pic>
        <p:nvPicPr>
          <p:cNvPr id="6" name="Image 0" descr="/home/claude/wq_ppt/icon_book_d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59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approaches found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88036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9" name="Text 6"/>
          <p:cNvSpPr/>
          <p:nvPr/>
        </p:nvSpPr>
        <p:spPr>
          <a:xfrm>
            <a:off x="1033272" y="28803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31920" y="288036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11" name="Text 8"/>
          <p:cNvSpPr/>
          <p:nvPr/>
        </p:nvSpPr>
        <p:spPr>
          <a:xfrm>
            <a:off x="4096512" y="28803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340614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13" name="Text 10"/>
          <p:cNvSpPr/>
          <p:nvPr/>
        </p:nvSpPr>
        <p:spPr>
          <a:xfrm>
            <a:off x="1033272" y="34061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31920" y="340614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15" name="Text 12"/>
          <p:cNvSpPr/>
          <p:nvPr/>
        </p:nvSpPr>
        <p:spPr>
          <a:xfrm>
            <a:off x="4096512" y="34061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" y="393192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17" name="Text 14"/>
          <p:cNvSpPr/>
          <p:nvPr/>
        </p:nvSpPr>
        <p:spPr>
          <a:xfrm>
            <a:off x="1033272" y="39319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931920" y="393192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39319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" y="445770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21" name="Text 18"/>
          <p:cNvSpPr/>
          <p:nvPr/>
        </p:nvSpPr>
        <p:spPr>
          <a:xfrm>
            <a:off x="1033272" y="44577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931920" y="445770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23" name="Text 20"/>
          <p:cNvSpPr/>
          <p:nvPr/>
        </p:nvSpPr>
        <p:spPr>
          <a:xfrm>
            <a:off x="4096512" y="44577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68680" y="498348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25" name="Text 22"/>
          <p:cNvSpPr/>
          <p:nvPr/>
        </p:nvSpPr>
        <p:spPr>
          <a:xfrm>
            <a:off x="1033272" y="49834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LSTM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931920" y="498348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27" name="Text 24"/>
          <p:cNvSpPr/>
          <p:nvPr/>
        </p:nvSpPr>
        <p:spPr>
          <a:xfrm>
            <a:off x="4096512" y="49834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8680" y="550926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29" name="Text 26"/>
          <p:cNvSpPr/>
          <p:nvPr/>
        </p:nvSpPr>
        <p:spPr>
          <a:xfrm>
            <a:off x="1033272" y="55092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931920" y="550926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3F6"/>
          </a:solidFill>
          <a:ln/>
        </p:spPr>
      </p:sp>
      <p:sp>
        <p:nvSpPr>
          <p:cNvPr id="31" name="Text 28"/>
          <p:cNvSpPr/>
          <p:nvPr/>
        </p:nvSpPr>
        <p:spPr>
          <a:xfrm>
            <a:off x="4096512" y="55092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&amp; Feature Selection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086600" y="2148840"/>
            <a:ext cx="4553712" cy="4023360"/>
          </a:xfrm>
          <a:prstGeom prst="roundRect">
            <a:avLst>
              <a:gd name="adj" fmla="val 1818"/>
            </a:avLst>
          </a:prstGeom>
          <a:solidFill>
            <a:srgbClr val="0B2438"/>
          </a:solidFill>
          <a:ln/>
        </p:spPr>
      </p:sp>
      <p:pic>
        <p:nvPicPr>
          <p:cNvPr id="33" name="Image 1" descr="/home/claude/wq_ppt/icon_warning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77440"/>
            <a:ext cx="365760" cy="3657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90956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limitations</a:t>
            </a:r>
            <a:endParaRPr lang="en-US" sz="1500" dirty="0"/>
          </a:p>
        </p:txBody>
      </p:sp>
      <p:sp>
        <p:nvSpPr>
          <p:cNvPr id="35" name="Shape 31"/>
          <p:cNvSpPr/>
          <p:nvPr/>
        </p:nvSpPr>
        <p:spPr>
          <a:xfrm>
            <a:off x="7406640" y="309067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2"/>
          <p:cNvSpPr/>
          <p:nvPr/>
        </p:nvSpPr>
        <p:spPr>
          <a:xfrm>
            <a:off x="7635240" y="296265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dataset size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7406640" y="347472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4"/>
          <p:cNvSpPr/>
          <p:nvPr/>
        </p:nvSpPr>
        <p:spPr>
          <a:xfrm>
            <a:off x="7635240" y="334670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imbalance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7406640" y="385876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6"/>
          <p:cNvSpPr/>
          <p:nvPr/>
        </p:nvSpPr>
        <p:spPr>
          <a:xfrm>
            <a:off x="7635240" y="37307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water-quality values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7406640" y="424281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38"/>
          <p:cNvSpPr/>
          <p:nvPr/>
        </p:nvSpPr>
        <p:spPr>
          <a:xfrm>
            <a:off x="7635240" y="4114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specific regions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7406640" y="462686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4" name="Text 40"/>
          <p:cNvSpPr/>
          <p:nvPr/>
        </p:nvSpPr>
        <p:spPr>
          <a:xfrm>
            <a:off x="7635240" y="44988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generalization to other datasets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7406640" y="501091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6" name="Text 42"/>
          <p:cNvSpPr/>
          <p:nvPr/>
        </p:nvSpPr>
        <p:spPr>
          <a:xfrm>
            <a:off x="7635240" y="488289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compute needs for deep learning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7406640" y="53949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8" name="Text 44"/>
          <p:cNvSpPr/>
          <p:nvPr/>
        </p:nvSpPr>
        <p:spPr>
          <a:xfrm>
            <a:off x="7635240" y="52669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specific parameters</a:t>
            </a:r>
            <a:endParaRPr lang="en-US" sz="1150" dirty="0"/>
          </a:p>
        </p:txBody>
      </p:sp>
      <p:sp>
        <p:nvSpPr>
          <p:cNvPr id="49" name="Text 4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System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leaves open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7F8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35458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354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models are comparatively simple and computationally efficient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7F8"/>
          </a:solidFill>
          <a:ln/>
        </p:spPr>
      </p:sp>
      <p:sp>
        <p:nvSpPr>
          <p:cNvPr id="9" name="Shape 7"/>
          <p:cNvSpPr/>
          <p:nvPr/>
        </p:nvSpPr>
        <p:spPr>
          <a:xfrm>
            <a:off x="6391656" y="23545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391656" y="23545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0" y="21031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studies report different performance depending on dataset and preprocessing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7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325069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2506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99923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 class imbalance can affect classification performance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999232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91656" y="325069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32506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299923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focus on specific geographic regions or single water sources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95344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7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68096" y="414680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1468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389534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approaches are powerful but generally need more compute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895344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2F7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91656" y="414680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91656" y="41468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389534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studies use complex models without a simple prediction interface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065A82"/>
          </a:solidFill>
          <a:ln/>
        </p:spPr>
      </p:sp>
      <p:pic>
        <p:nvPicPr>
          <p:cNvPr id="29" name="Image 0" descr="/home/claude/wq_ppt/icon_search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79008"/>
            <a:ext cx="402336" cy="40233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17320" y="5532120"/>
            <a:ext cx="9966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a consistent, standardized comparison of Random Forest and SVM for water-potability classification on a shared dataset and evaluation procedure.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System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Potability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 ·  Tabular water-quality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848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3,276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2011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20848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19272" y="2651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9904" y="2011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20848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89904" y="2651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0536" y="20116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0536" y="208483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860536" y="2651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70408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</p:spPr>
      </p:sp>
      <p:pic>
        <p:nvPicPr>
          <p:cNvPr id="18" name="Image 0" descr="/home/claude/wq_ppt/icon_database_d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30752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0160" y="3749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Features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432511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1024128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017520" y="432511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3218688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212080" y="432511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2"/>
          <p:cNvSpPr/>
          <p:nvPr/>
        </p:nvSpPr>
        <p:spPr>
          <a:xfrm>
            <a:off x="5413248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2960" y="491947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1024128" y="4800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Chloramines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017520" y="491947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3218688" y="4800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212080" y="491947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8"/>
          <p:cNvSpPr/>
          <p:nvPr/>
        </p:nvSpPr>
        <p:spPr>
          <a:xfrm>
            <a:off x="5413248" y="4800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22960" y="551383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0"/>
          <p:cNvSpPr/>
          <p:nvPr/>
        </p:nvSpPr>
        <p:spPr>
          <a:xfrm>
            <a:off x="1024128" y="5394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Carbon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017520" y="551383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2"/>
          <p:cNvSpPr/>
          <p:nvPr/>
        </p:nvSpPr>
        <p:spPr>
          <a:xfrm>
            <a:off x="3218688" y="5394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Trihalomethanes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212080" y="551383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4"/>
          <p:cNvSpPr/>
          <p:nvPr/>
        </p:nvSpPr>
        <p:spPr>
          <a:xfrm>
            <a:off x="5413248" y="5394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772400" y="3520440"/>
            <a:ext cx="3867912" cy="2606040"/>
          </a:xfrm>
          <a:prstGeom prst="roundRect">
            <a:avLst>
              <a:gd name="adj" fmla="val 2807"/>
            </a:avLst>
          </a:prstGeom>
          <a:solidFill>
            <a:srgbClr val="0B2438"/>
          </a:solidFill>
          <a:ln/>
        </p:spPr>
      </p:sp>
      <p:sp>
        <p:nvSpPr>
          <p:cNvPr id="39" name="Text 36"/>
          <p:cNvSpPr/>
          <p:nvPr/>
        </p:nvSpPr>
        <p:spPr>
          <a:xfrm>
            <a:off x="804672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Target: Potability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046720" y="4251960"/>
            <a:ext cx="3337560" cy="685800"/>
          </a:xfrm>
          <a:prstGeom prst="roundRect">
            <a:avLst>
              <a:gd name="adj" fmla="val 49333"/>
            </a:avLst>
          </a:prstGeom>
          <a:solidFill>
            <a:srgbClr val="2E4756"/>
          </a:solidFill>
          <a:ln/>
        </p:spPr>
      </p:sp>
      <p:sp>
        <p:nvSpPr>
          <p:cNvPr id="41" name="Text 38"/>
          <p:cNvSpPr/>
          <p:nvPr/>
        </p:nvSpPr>
        <p:spPr>
          <a:xfrm>
            <a:off x="8046720" y="42519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Non-Potable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046720" y="5074920"/>
            <a:ext cx="3337560" cy="685800"/>
          </a:xfrm>
          <a:prstGeom prst="roundRect">
            <a:avLst>
              <a:gd name="adj" fmla="val 49333"/>
            </a:avLst>
          </a:prstGeom>
          <a:solidFill>
            <a:srgbClr val="02C39A"/>
          </a:solidFill>
          <a:ln/>
        </p:spPr>
      </p:sp>
      <p:sp>
        <p:nvSpPr>
          <p:cNvPr id="43" name="Text 40"/>
          <p:cNvSpPr/>
          <p:nvPr/>
        </p:nvSpPr>
        <p:spPr>
          <a:xfrm>
            <a:off x="8046720" y="50749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Potable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48640" y="61447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to be analyzed   ·   Duplicate records: to be analyzed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System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preprocessing pipeline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2F7F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3134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222199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Water Potability dataset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21488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2F7F8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231343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22199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structure &amp; dimensions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2F7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23134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222199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214884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2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231343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0" y="222199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 records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27832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2F7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39242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300984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data types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3227832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2F7F8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0" y="339242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0" y="3300984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features &amp; target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3227832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2F7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263640" y="339242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3300984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15400" y="3227832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2F7F8"/>
          </a:solidFill>
          <a:ln/>
        </p:spPr>
      </p:sp>
      <p:sp>
        <p:nvSpPr>
          <p:cNvPr id="33" name="Shape 31"/>
          <p:cNvSpPr/>
          <p:nvPr/>
        </p:nvSpPr>
        <p:spPr>
          <a:xfrm>
            <a:off x="9052560" y="339242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905256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09760" y="3300984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analysis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306824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2F7F8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" y="447141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3000" y="437997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37560" y="4306824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2F7F8"/>
          </a:solidFill>
          <a:ln/>
        </p:spPr>
      </p:sp>
      <p:sp>
        <p:nvSpPr>
          <p:cNvPr id="41" name="Shape 39"/>
          <p:cNvSpPr/>
          <p:nvPr/>
        </p:nvSpPr>
        <p:spPr>
          <a:xfrm>
            <a:off x="3474720" y="44714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0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31920" y="437997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where required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26480" y="4306824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2F7F8"/>
          </a:solidFill>
          <a:ln/>
        </p:spPr>
      </p:sp>
      <p:sp>
        <p:nvSpPr>
          <p:cNvPr id="45" name="Shape 43"/>
          <p:cNvSpPr/>
          <p:nvPr/>
        </p:nvSpPr>
        <p:spPr>
          <a:xfrm>
            <a:off x="6263640" y="447141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20840" y="4379976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5440680"/>
            <a:ext cx="11091672" cy="987552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pic>
        <p:nvPicPr>
          <p:cNvPr id="49" name="Image 0" descr="/home/claude/wq_ppt/icon_clipboard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696712"/>
            <a:ext cx="457200" cy="45720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1463040" y="5440680"/>
            <a:ext cx="9966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quality analysis: missing values identified &amp; handled · duplicates checked &amp; removed if necessary · class distribution analyzed · feature relationships examined via correlation.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System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dataset to a potability prediction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711452" cy="868680"/>
          </a:xfrm>
          <a:prstGeom prst="roundRect">
            <a:avLst>
              <a:gd name="adj" fmla="val 6316"/>
            </a:avLst>
          </a:prstGeom>
          <a:solidFill>
            <a:srgbClr val="13314A"/>
          </a:solidFill>
          <a:ln w="12700">
            <a:solidFill>
              <a:srgbClr val="2E4B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17114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Potability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24684" y="1874520"/>
            <a:ext cx="1711452" cy="868680"/>
          </a:xfrm>
          <a:prstGeom prst="roundRect">
            <a:avLst>
              <a:gd name="adj" fmla="val 6316"/>
            </a:avLst>
          </a:prstGeom>
          <a:solidFill>
            <a:srgbClr val="13314A"/>
          </a:solidFill>
          <a:ln w="12700">
            <a:solidFill>
              <a:srgbClr val="2E4B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4684" y="1874520"/>
            <a:ext cx="17114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60092" y="2308860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0728" y="1874520"/>
            <a:ext cx="1711452" cy="868680"/>
          </a:xfrm>
          <a:prstGeom prst="roundRect">
            <a:avLst>
              <a:gd name="adj" fmla="val 6316"/>
            </a:avLst>
          </a:prstGeom>
          <a:solidFill>
            <a:srgbClr val="13314A"/>
          </a:solidFill>
          <a:ln w="12700">
            <a:solidFill>
              <a:srgbClr val="2E4B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00728" y="1874520"/>
            <a:ext cx="17114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36136" y="2308860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6772" y="1874520"/>
            <a:ext cx="1711452" cy="868680"/>
          </a:xfrm>
          <a:prstGeom prst="roundRect">
            <a:avLst>
              <a:gd name="adj" fmla="val 6316"/>
            </a:avLst>
          </a:prstGeom>
          <a:solidFill>
            <a:srgbClr val="13314A"/>
          </a:solidFill>
          <a:ln w="12700">
            <a:solidFill>
              <a:srgbClr val="2E4B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6772" y="1874520"/>
            <a:ext cx="17114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12180" y="2308860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52816" y="1874520"/>
            <a:ext cx="1711452" cy="868680"/>
          </a:xfrm>
          <a:prstGeom prst="roundRect">
            <a:avLst>
              <a:gd name="adj" fmla="val 6316"/>
            </a:avLst>
          </a:prstGeom>
          <a:solidFill>
            <a:srgbClr val="13314A"/>
          </a:solidFill>
          <a:ln w="12700">
            <a:solidFill>
              <a:srgbClr val="2E4B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2816" y="1874520"/>
            <a:ext cx="17114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88224" y="2308860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28860" y="1874520"/>
            <a:ext cx="1711452" cy="868680"/>
          </a:xfrm>
          <a:prstGeom prst="roundRect">
            <a:avLst>
              <a:gd name="adj" fmla="val 6316"/>
            </a:avLst>
          </a:prstGeom>
          <a:solidFill>
            <a:srgbClr val="13314A"/>
          </a:solidFill>
          <a:ln w="12700">
            <a:solidFill>
              <a:srgbClr val="2E4B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8860" y="1874520"/>
            <a:ext cx="17114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64268" y="2308860"/>
            <a:ext cx="16459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4586" y="2743200"/>
            <a:ext cx="0" cy="201168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4476" y="2944368"/>
            <a:ext cx="469011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4476" y="2944368"/>
            <a:ext cx="0" cy="1828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9612" y="30723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4174236" y="3127248"/>
            <a:ext cx="38404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74236" y="3127248"/>
            <a:ext cx="0" cy="4572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14716" y="3127248"/>
            <a:ext cx="0" cy="4572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11196" y="3172968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2E4B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11196" y="31729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51676" y="3172968"/>
            <a:ext cx="292608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2E4B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1676" y="31729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74236" y="3767328"/>
            <a:ext cx="0" cy="1828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14716" y="3767328"/>
            <a:ext cx="0" cy="18288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74236" y="3950208"/>
            <a:ext cx="38404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94476" y="3950208"/>
            <a:ext cx="0" cy="2286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82796" y="4178808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13314A"/>
          </a:solidFill>
          <a:ln w="12700">
            <a:solidFill>
              <a:srgbClr val="2E4B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82796" y="417880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094476" y="4745736"/>
            <a:ext cx="0" cy="3200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91356" y="5065776"/>
            <a:ext cx="4206240" cy="65836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3991356" y="50657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Potable / Non-Potable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48640" y="5888736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Water Sample  →  Potable or Non-Potable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System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vs. Support Vector Machine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sx="100000" sy="100000" kx="0" ky="0" algn="bl" rotWithShape="0" blurRad="101600" dist="38100" dir="5400000">
              <a:srgbClr val="5A6E77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q_ppt/icon_tre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505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860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41248" y="318211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0540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multiple decision trees into one prediction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41248" y="35661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4381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nonlinear relationships between parameters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1248" y="395020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8221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robust to noise and dataset variation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41248" y="433425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206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multi-feature classification problems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5074920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F2F7F8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50749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Features → Potability Prediction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2011680"/>
            <a:ext cx="53492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1E9EC"/>
            </a:solidFill>
            <a:prstDash val="solid"/>
          </a:ln>
          <a:effectLst>
            <a:outerShdw sx="100000" sy="100000" kx="0" ky="0" algn="bl" rotWithShape="0" blurRad="101600" dist="38100" dir="5400000">
              <a:srgbClr val="5A6E77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37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1" descr="/home/claude/wq_ppt/icon_vecto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450592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60920" y="22860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6556248" y="318211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9"/>
          <p:cNvSpPr/>
          <p:nvPr/>
        </p:nvSpPr>
        <p:spPr>
          <a:xfrm>
            <a:off x="6766560" y="30540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 optimal boundary between classes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556248" y="35661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1"/>
          <p:cNvSpPr/>
          <p:nvPr/>
        </p:nvSpPr>
        <p:spPr>
          <a:xfrm>
            <a:off x="6766560" y="34381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 complex decision boundaries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556248" y="395020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38221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matters for good performance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56248" y="433425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4206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samples as potable or non-potable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537960" y="5074920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F2F7F8"/>
          </a:solidFill>
          <a:ln/>
        </p:spPr>
      </p:sp>
      <p:sp>
        <p:nvSpPr>
          <p:cNvPr id="31" name="Text 27"/>
          <p:cNvSpPr/>
          <p:nvPr/>
        </p:nvSpPr>
        <p:spPr>
          <a:xfrm>
            <a:off x="6537960" y="50749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Features → Potability Prediction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48640" y="5852160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0B2438"/>
          </a:solidFill>
          <a:ln/>
        </p:spPr>
      </p:sp>
      <p:sp>
        <p:nvSpPr>
          <p:cNvPr id="33" name="Text 29"/>
          <p:cNvSpPr/>
          <p:nvPr/>
        </p:nvSpPr>
        <p:spPr>
          <a:xfrm>
            <a:off x="548640" y="58521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with: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 ·   Precision   ·   Recall   ·   F1-Score   ·   Confusion Matrix   ·   ROC-AUC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System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system can go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3317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wq_ppt/icon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505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8986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Larger, diverse datasets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32644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larger and more diverse water-quality datasets.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21488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8"/>
          </a:solidFill>
          <a:ln/>
        </p:spPr>
      </p:sp>
      <p:sp>
        <p:nvSpPr>
          <p:cNvPr id="10" name="Shape 7"/>
          <p:cNvSpPr/>
          <p:nvPr/>
        </p:nvSpPr>
        <p:spPr>
          <a:xfrm>
            <a:off x="3538728" y="2331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q_ppt/icon_wif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4505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8986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sensor data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38728" y="32644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real-time water-quality sensor readings.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21488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8"/>
          </a:solidFill>
          <a:ln/>
        </p:spPr>
      </p:sp>
      <p:sp>
        <p:nvSpPr>
          <p:cNvPr id="15" name="Shape 11"/>
          <p:cNvSpPr/>
          <p:nvPr/>
        </p:nvSpPr>
        <p:spPr>
          <a:xfrm>
            <a:off x="6327648" y="23317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wq_ppt/icon_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5059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8986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/ mobile app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27648" y="32644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web or mobile application for easy prediction.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15400" y="21488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8"/>
          </a:solidFill>
          <a:ln/>
        </p:spPr>
      </p:sp>
      <p:sp>
        <p:nvSpPr>
          <p:cNvPr id="20" name="Shape 15"/>
          <p:cNvSpPr/>
          <p:nvPr/>
        </p:nvSpPr>
        <p:spPr>
          <a:xfrm>
            <a:off x="9116568" y="2331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wq_ppt/icon_diagram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45059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6568" y="28986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integration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16568" y="32644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IoT sensors for continuous water monitoring.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41605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8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343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wq_ppt/icon_lay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6227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" y="49103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parameters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9808" y="5276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additional water-quality parameters.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37560" y="41605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8"/>
          </a:solidFill>
          <a:ln/>
        </p:spPr>
      </p:sp>
      <p:sp>
        <p:nvSpPr>
          <p:cNvPr id="30" name="Shape 23"/>
          <p:cNvSpPr/>
          <p:nvPr/>
        </p:nvSpPr>
        <p:spPr>
          <a:xfrm>
            <a:off x="3538728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wq_ppt/icon_chartlin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46227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38728" y="49103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models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38728" y="5276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advanced Machine Learning and Deep Learning models.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26480" y="41605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8"/>
          </a:solidFill>
          <a:ln/>
        </p:spPr>
      </p:sp>
      <p:sp>
        <p:nvSpPr>
          <p:cNvPr id="35" name="Shape 27"/>
          <p:cNvSpPr/>
          <p:nvPr/>
        </p:nvSpPr>
        <p:spPr>
          <a:xfrm>
            <a:off x="6327648" y="4343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6" descr="/home/claude/wq_ppt/icon_lightbulb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462272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27648" y="49103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327648" y="5276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XAI to explain why a sample is potable or not.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915400" y="41605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2F7F8"/>
          </a:solidFill>
          <a:ln/>
        </p:spPr>
      </p:sp>
      <p:sp>
        <p:nvSpPr>
          <p:cNvPr id="40" name="Shape 31"/>
          <p:cNvSpPr/>
          <p:nvPr/>
        </p:nvSpPr>
        <p:spPr>
          <a:xfrm>
            <a:off x="9116568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/home/claude/wq_ppt/icon_glob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0" y="4462272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16568" y="49103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Cross-region coverage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116568" y="5276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monitoring across different geographic regions.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System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step toward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water assessment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037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756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assessment is a key environmental &amp; public-health problem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066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786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can classify water samples from their physical and chemical characteristics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uses the Water Potability Dataset for classification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1246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84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SVM will be implemented and compared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873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will be evaluated using multiple classification metrics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7183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902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best-performing model can power a user-friendly prediction system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440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preliminary decision-making — laboratory testing remains necessary for definitive water-safety verification.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920240"/>
            <a:ext cx="1463040" cy="1463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wq_ppt/icon_tin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30428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7033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System · Random Forest &amp; Support Vector Machine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2026-09-02T05:27:51Z</dcterms:created>
  <dcterms:modified xsi:type="dcterms:W3CDTF">2026-09-02T05:27:51Z</dcterms:modified>
</cp:coreProperties>
</file>